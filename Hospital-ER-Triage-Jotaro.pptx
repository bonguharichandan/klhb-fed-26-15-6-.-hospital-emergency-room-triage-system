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nstrument Sans Medium" panose="020B0604020202020204" charset="0"/>
      <p:regular r:id="rId11"/>
    </p:embeddedFon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14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Hospital Emergency-Room Triage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the ones who need it most. Seconds matter.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527943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is Triage?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48581"/>
            <a:ext cx="6296860" cy="16398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8549" y="155406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Rapid Urgency Assessment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68549" y="1938536"/>
            <a:ext cx="578430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check them the second they walk in. Severity decides how fast they get care.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60117"/>
            <a:ext cx="6296860" cy="16398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8549" y="3365599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Treatment Priority &amp; Resource Allocation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968549" y="3750072"/>
            <a:ext cx="578430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Staff, beds, and gear go where the real threats are. Nothing more, nothing less.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971653"/>
            <a:ext cx="6296860" cy="13584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8549" y="517713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Save Lives First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968549" y="5561608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sickest get care first. Everything else follows from that.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Five-Level Triage Scale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21058" y="2795588"/>
            <a:ext cx="2632604" cy="515441"/>
          </a:xfrm>
          <a:prstGeom prst="roundRect">
            <a:avLst>
              <a:gd name="adj" fmla="val 2836"/>
            </a:avLst>
          </a:prstGeom>
          <a:solidFill>
            <a:srgbClr val="C8285A"/>
          </a:solidFill>
          <a:ln/>
        </p:spPr>
      </p:sp>
      <p:sp>
        <p:nvSpPr>
          <p:cNvPr id="5" name="Text 2"/>
          <p:cNvSpPr/>
          <p:nvPr/>
        </p:nvSpPr>
        <p:spPr>
          <a:xfrm>
            <a:off x="6318489" y="2893020"/>
            <a:ext cx="24377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Level 1 — Red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318489" y="3095526"/>
            <a:ext cx="24377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· Resuscitation required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8903866" y="2795588"/>
            <a:ext cx="2632704" cy="515441"/>
          </a:xfrm>
          <a:prstGeom prst="roundRect">
            <a:avLst>
              <a:gd name="adj" fmla="val 2836"/>
            </a:avLst>
          </a:prstGeom>
          <a:solidFill>
            <a:srgbClr val="E8622A"/>
          </a:solidFill>
          <a:ln/>
        </p:spPr>
      </p:sp>
      <p:sp>
        <p:nvSpPr>
          <p:cNvPr id="8" name="Text 5"/>
          <p:cNvSpPr/>
          <p:nvPr/>
        </p:nvSpPr>
        <p:spPr>
          <a:xfrm>
            <a:off x="9001297" y="2893020"/>
            <a:ext cx="2437843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Level 2 — Orange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001297" y="3095526"/>
            <a:ext cx="243784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Emergent · High risk, serious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221058" y="3361234"/>
            <a:ext cx="2632604" cy="515441"/>
          </a:xfrm>
          <a:prstGeom prst="roundRect">
            <a:avLst>
              <a:gd name="adj" fmla="val 2836"/>
            </a:avLst>
          </a:prstGeom>
          <a:solidFill>
            <a:srgbClr val="C8A800"/>
          </a:solidFill>
          <a:ln/>
        </p:spPr>
      </p:sp>
      <p:sp>
        <p:nvSpPr>
          <p:cNvPr id="11" name="Text 8"/>
          <p:cNvSpPr/>
          <p:nvPr/>
        </p:nvSpPr>
        <p:spPr>
          <a:xfrm>
            <a:off x="6318489" y="3458666"/>
            <a:ext cx="24377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Level 3 — Yellow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318489" y="3661172"/>
            <a:ext cx="24377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 · Moderate severity, stable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8903866" y="3361234"/>
            <a:ext cx="2632704" cy="515441"/>
          </a:xfrm>
          <a:prstGeom prst="roundRect">
            <a:avLst>
              <a:gd name="adj" fmla="val 2836"/>
            </a:avLst>
          </a:prstGeom>
          <a:solidFill>
            <a:srgbClr val="3A8A3A"/>
          </a:solidFill>
          <a:ln/>
        </p:spPr>
      </p:sp>
      <p:sp>
        <p:nvSpPr>
          <p:cNvPr id="14" name="Text 11"/>
          <p:cNvSpPr/>
          <p:nvPr/>
        </p:nvSpPr>
        <p:spPr>
          <a:xfrm>
            <a:off x="9001297" y="3458666"/>
            <a:ext cx="2437843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Level 4 — Green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001297" y="3661172"/>
            <a:ext cx="243784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Minor · Non-urgent, ambulatory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221058" y="3926880"/>
            <a:ext cx="5315512" cy="515441"/>
          </a:xfrm>
          <a:prstGeom prst="roundRect">
            <a:avLst>
              <a:gd name="adj" fmla="val 2836"/>
            </a:avLst>
          </a:prstGeom>
          <a:solidFill>
            <a:srgbClr val="3A6AB0"/>
          </a:solidFill>
          <a:ln/>
        </p:spPr>
      </p:sp>
      <p:sp>
        <p:nvSpPr>
          <p:cNvPr id="17" name="Text 14"/>
          <p:cNvSpPr/>
          <p:nvPr/>
        </p:nvSpPr>
        <p:spPr>
          <a:xfrm>
            <a:off x="6318489" y="4024313"/>
            <a:ext cx="5120651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Level 5 — Blue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318489" y="4226818"/>
            <a:ext cx="512065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Deceased or expectant care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574278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Level 1: Immediate Care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661475" y="1291233"/>
            <a:ext cx="2444788" cy="253206"/>
          </a:xfrm>
          <a:prstGeom prst="roundRect">
            <a:avLst>
              <a:gd name="adj" fmla="val 7698"/>
            </a:avLst>
          </a:prstGeom>
          <a:solidFill>
            <a:srgbClr val="4A0303"/>
          </a:solidFill>
          <a:ln/>
        </p:spPr>
      </p:sp>
      <p:sp>
        <p:nvSpPr>
          <p:cNvPr id="5" name="Text 2"/>
          <p:cNvSpPr/>
          <p:nvPr/>
        </p:nvSpPr>
        <p:spPr>
          <a:xfrm>
            <a:off x="758905" y="1339949"/>
            <a:ext cx="2859512" cy="155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LIFE-THREATENING — ACT NOW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61475" y="1701403"/>
            <a:ext cx="6296860" cy="4582319"/>
          </a:xfrm>
          <a:prstGeom prst="roundRect">
            <a:avLst>
              <a:gd name="adj" fmla="val 532"/>
            </a:avLst>
          </a:prstGeom>
          <a:solidFill>
            <a:srgbClr val="434348"/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1701403"/>
            <a:ext cx="6296860" cy="1145580"/>
          </a:xfrm>
          <a:custGeom>
            <a:avLst/>
            <a:gdLst/>
            <a:ahLst/>
            <a:cxnLst/>
            <a:rect l="l" t="t" r="r" b="b"/>
            <a:pathLst>
              <a:path w="6296860" h="1145580">
                <a:moveTo>
                  <a:pt x="20305" y="0"/>
                </a:moveTo>
                <a:lnTo>
                  <a:pt x="6276555" y="0"/>
                </a:lnTo>
                <a:arcTo wR="20305" hR="20305" stAng="16200000" swAng="5400000"/>
                <a:lnTo>
                  <a:pt x="6296860" y="1145580"/>
                </a:lnTo>
                <a:lnTo>
                  <a:pt x="0" y="1145580"/>
                </a:lnTo>
                <a:lnTo>
                  <a:pt x="0" y="20305"/>
                </a:lnTo>
                <a:arcTo wR="20305" hR="20305" stAng="10800000" swAng="5400000"/>
                <a:close/>
              </a:path>
            </a:pathLst>
          </a:custGeom>
          <a:solidFill>
            <a:srgbClr val="434348"/>
          </a:solidFill>
          <a:ln/>
        </p:spPr>
      </p:sp>
      <p:sp>
        <p:nvSpPr>
          <p:cNvPr id="8" name="Text 5"/>
          <p:cNvSpPr/>
          <p:nvPr/>
        </p:nvSpPr>
        <p:spPr>
          <a:xfrm>
            <a:off x="823892" y="1863824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Altered Mental Status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3892" y="2201366"/>
            <a:ext cx="59720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Unresponsive or out of it. Protect the airway. Check the brain. Now.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2846983"/>
            <a:ext cx="6296860" cy="1145580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2846983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5C5C61"/>
          </a:solidFill>
          <a:ln/>
        </p:spPr>
      </p:sp>
      <p:sp>
        <p:nvSpPr>
          <p:cNvPr id="12" name="Text 9"/>
          <p:cNvSpPr/>
          <p:nvPr/>
        </p:nvSpPr>
        <p:spPr>
          <a:xfrm>
            <a:off x="823892" y="3009404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Severe Respiratory Compromise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3892" y="3346946"/>
            <a:ext cx="59720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Can't breathe or about to stop. Secure the airway. No delay.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1475" y="3992563"/>
            <a:ext cx="6296860" cy="1145580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5" name="Shape 12"/>
          <p:cNvSpPr/>
          <p:nvPr/>
        </p:nvSpPr>
        <p:spPr>
          <a:xfrm>
            <a:off x="661475" y="3992563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5C5C61"/>
          </a:solidFill>
          <a:ln/>
        </p:spPr>
      </p:sp>
      <p:sp>
        <p:nvSpPr>
          <p:cNvPr id="16" name="Text 13"/>
          <p:cNvSpPr/>
          <p:nvPr/>
        </p:nvSpPr>
        <p:spPr>
          <a:xfrm>
            <a:off x="823892" y="4154984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Hemodynamic Instability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23892" y="4492526"/>
            <a:ext cx="59720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Shock, massive bleed, or arrest. Resuscitate. Pressors if needed. Move.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1475" y="5138142"/>
            <a:ext cx="6296860" cy="1145580"/>
          </a:xfrm>
          <a:custGeom>
            <a:avLst/>
            <a:gdLst/>
            <a:ahLst/>
            <a:cxnLst/>
            <a:rect l="l" t="t" r="r" b="b"/>
            <a:pathLst>
              <a:path w="6296860" h="1145580">
                <a:moveTo>
                  <a:pt x="0" y="0"/>
                </a:moveTo>
                <a:lnTo>
                  <a:pt x="6296860" y="0"/>
                </a:lnTo>
                <a:lnTo>
                  <a:pt x="6296860" y="1125274"/>
                </a:lnTo>
                <a:arcTo wR="20305" hR="20305" stAng="0" swAng="5400000"/>
                <a:lnTo>
                  <a:pt x="20305" y="1145580"/>
                </a:lnTo>
                <a:arcTo wR="20305" hR="20305" stAng="5400000" swAng="5400000"/>
                <a:lnTo>
                  <a:pt x="0" y="0"/>
                </a:lnTo>
                <a:close/>
              </a:path>
            </a:pathLst>
          </a:custGeom>
          <a:solidFill>
            <a:srgbClr val="434348"/>
          </a:solidFill>
          <a:ln/>
        </p:spPr>
      </p:sp>
      <p:sp>
        <p:nvSpPr>
          <p:cNvPr id="19" name="Shape 16"/>
          <p:cNvSpPr/>
          <p:nvPr/>
        </p:nvSpPr>
        <p:spPr>
          <a:xfrm>
            <a:off x="661475" y="5138142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5C5C61"/>
          </a:solidFill>
          <a:ln/>
        </p:spPr>
      </p:sp>
      <p:sp>
        <p:nvSpPr>
          <p:cNvPr id="20" name="Text 17"/>
          <p:cNvSpPr/>
          <p:nvPr/>
        </p:nvSpPr>
        <p:spPr>
          <a:xfrm>
            <a:off x="823892" y="5300563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Severe Trauma &amp; Burns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23892" y="5638105"/>
            <a:ext cx="59720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Multi-system damage, penetrating wounds, or big burns with system failure.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88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Level 2 &amp; 3: Emergent &amp; Urgent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702991"/>
            <a:ext cx="5476043" cy="4326136"/>
          </a:xfrm>
          <a:prstGeom prst="roundRect">
            <a:avLst>
              <a:gd name="adj" fmla="val 655"/>
            </a:avLst>
          </a:prstGeom>
          <a:solidFill>
            <a:srgbClr val="FDC4C4"/>
          </a:solidFill>
          <a:ln/>
        </p:spPr>
      </p:sp>
      <p:sp>
        <p:nvSpPr>
          <p:cNvPr id="4" name="Shape 2"/>
          <p:cNvSpPr/>
          <p:nvPr/>
        </p:nvSpPr>
        <p:spPr>
          <a:xfrm>
            <a:off x="714357" y="1915616"/>
            <a:ext cx="2115489" cy="293489"/>
          </a:xfrm>
          <a:prstGeom prst="roundRect">
            <a:avLst>
              <a:gd name="adj" fmla="val 7728"/>
            </a:avLst>
          </a:prstGeom>
          <a:solidFill>
            <a:srgbClr val="FDCECE"/>
          </a:solidFill>
          <a:ln/>
        </p:spPr>
      </p:sp>
      <p:sp>
        <p:nvSpPr>
          <p:cNvPr id="5" name="Text 3"/>
          <p:cNvSpPr/>
          <p:nvPr/>
        </p:nvSpPr>
        <p:spPr>
          <a:xfrm>
            <a:off x="827761" y="1972270"/>
            <a:ext cx="2498266" cy="180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🟠 LEVEL 2 — EMERGENT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4357" y="2284710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High-Risk Presentations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2768997"/>
            <a:ext cx="5098029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Chest pain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cardiac risk factors or ST changes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Moderate trauma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possible fractures or internal injury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Acute abdominal pain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suggesting surgical emergency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Altered consciousness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stroke, seizure, metabolic crisis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4357" y="5254228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Seen by a provider within 15 minutes. Keep eyes on them the whole time.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32776" y="1915616"/>
            <a:ext cx="1910905" cy="293489"/>
          </a:xfrm>
          <a:prstGeom prst="roundRect">
            <a:avLst>
              <a:gd name="adj" fmla="val 7728"/>
            </a:avLst>
          </a:prstGeom>
          <a:noFill/>
          <a:ln w="6350">
            <a:solidFill>
              <a:srgbClr val="FD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180" y="1972270"/>
            <a:ext cx="2293682" cy="180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🟡</a:t>
            </a:r>
            <a:r>
              <a:rPr lang="en-US" sz="1150" dirty="0">
                <a:solidFill>
                  <a:srgbClr val="FDC4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LEVEL 3 — URGENT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32776" y="228471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Stable but Time-Sensitive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332776" y="2768997"/>
            <a:ext cx="5203794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7CDD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Minor trauma</a:t>
            </a: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sprains, lacerations, extremity injuries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7CDD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Stable vital signs</a:t>
            </a: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moderate complaint severity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7CDD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Chronic condition exacerbation</a:t>
            </a: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asthma, COPD, CHF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C7CDD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Fever</a:t>
            </a: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without systemic signs of sepsis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32776" y="495180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 contact within 30 minutes. Watch for any drop to Level 2.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027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Triage Assessment Process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49747"/>
            <a:ext cx="10868745" cy="4694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5023" y="4637643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Obtain Vitals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255023" y="5015186"/>
            <a:ext cx="1613822" cy="40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Vitals and brief history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398903" y="4637643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Assign Acuity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398903" y="5015186"/>
            <a:ext cx="1613822" cy="403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 level and area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88227" y="1573379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Assess ABCs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188227" y="1950921"/>
            <a:ext cx="1613822" cy="403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Airway, breathing, circulation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404137" y="1573379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Document &amp; Reassess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404137" y="2244855"/>
            <a:ext cx="1613822" cy="605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findings and repeat checks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352682" y="1573379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Focused Exam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352682" y="1950921"/>
            <a:ext cx="1613822" cy="403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physical assessment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954415"/>
            <a:ext cx="1086874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skip steps. Conditions change. Write it down. Check again.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98202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Challenges in ER Triage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365250"/>
            <a:ext cx="6296860" cy="110509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4393" y="1802606"/>
            <a:ext cx="230281" cy="230287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991373" y="1537791"/>
            <a:ext cx="53663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Volume Surge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5991373" y="1852513"/>
            <a:ext cx="536631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hours crush the clock. Undertriage risk goes up fast.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595066"/>
            <a:ext cx="6296860" cy="110509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4393" y="3032423"/>
            <a:ext cx="230281" cy="230287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991373" y="2767608"/>
            <a:ext cx="53663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Subjective Judgment</a:t>
            </a:r>
            <a:endParaRPr lang="en-US" sz="1500" dirty="0"/>
          </a:p>
        </p:txBody>
      </p:sp>
      <p:sp>
        <p:nvSpPr>
          <p:cNvPr id="11" name="Text 4"/>
          <p:cNvSpPr/>
          <p:nvPr/>
        </p:nvSpPr>
        <p:spPr>
          <a:xfrm>
            <a:off x="5991373" y="3082330"/>
            <a:ext cx="536631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nurses, different calls. Borderline Level 2/3 cases take the hit.</a:t>
            </a:r>
            <a:endParaRPr lang="en-US" sz="12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824883"/>
            <a:ext cx="6296860" cy="1105098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44393" y="4262239"/>
            <a:ext cx="230281" cy="230287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5991373" y="3997424"/>
            <a:ext cx="53663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Patient &amp; Family Pressure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5991373" y="4312146"/>
            <a:ext cx="536631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They'll push. Stay objective. The protocol doesn't care about volume.</a:t>
            </a:r>
            <a:endParaRPr lang="en-US" sz="12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054699"/>
            <a:ext cx="6296860" cy="11050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44393" y="5492055"/>
            <a:ext cx="230281" cy="230287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5991373" y="5227241"/>
            <a:ext cx="53663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 Reassessment</a:t>
            </a:r>
            <a:endParaRPr lang="en-US" sz="1500" dirty="0"/>
          </a:p>
        </p:txBody>
      </p:sp>
      <p:sp>
        <p:nvSpPr>
          <p:cNvPr id="19" name="Text 8"/>
          <p:cNvSpPr/>
          <p:nvPr/>
        </p:nvSpPr>
        <p:spPr>
          <a:xfrm>
            <a:off x="5991373" y="5541963"/>
            <a:ext cx="536631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Level 3 can become a Level 1. Reassess or miss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9648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Best Practices for Effective Triage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61475" y="2768699"/>
            <a:ext cx="25454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Standardized Protocols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1475" y="3169245"/>
            <a:ext cx="2545493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ESI, CTAS, or MTS the same way every time. Consistency saves lives.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3435859" y="2768699"/>
            <a:ext cx="2545493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Ongoing Training &amp; Validation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435859" y="3459956"/>
            <a:ext cx="2545493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Drill it. Review cases. Keep the skill sharp.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210244" y="2768699"/>
            <a:ext cx="25454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Technology Integration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210244" y="3169245"/>
            <a:ext cx="2545493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Monitors, EHR, decision tools. Faster assessment, fewer mistakes.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8984628" y="2768798"/>
            <a:ext cx="254559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Clear Communication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984628" y="3169345"/>
            <a:ext cx="2545592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them straight. Less panic. Better compliance.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5146973"/>
            <a:ext cx="10868745" cy="1031379"/>
          </a:xfrm>
          <a:prstGeom prst="roundRect">
            <a:avLst>
              <a:gd name="adj" fmla="val 2706"/>
            </a:avLst>
          </a:prstGeom>
          <a:solidFill>
            <a:srgbClr val="7B0404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05" y="5410597"/>
            <a:ext cx="232563" cy="1860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66099" y="5376565"/>
            <a:ext cx="1007809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 is discipline. Follow the protocol. Trust the process.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527</Words>
  <Application>Microsoft Office PowerPoint</Application>
  <PresentationFormat>Widescreen</PresentationFormat>
  <Paragraphs>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Instrument Sans Medium</vt:lpstr>
      <vt:lpstr>Inter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ADMIN</cp:lastModifiedBy>
  <cp:revision>2</cp:revision>
  <dcterms:created xsi:type="dcterms:W3CDTF">2026-09-11T07:51:27Z</dcterms:created>
  <dcterms:modified xsi:type="dcterms:W3CDTF">2026-09-21T07:28:41Z</dcterms:modified>
</cp:coreProperties>
</file>